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A5E9"/>
                </a:solidFill>
              </a:defRPr>
            </a:pPr>
            <a:r>
              <a:t>MILESTONE 2 PROJECT PRESENTATION</a:t>
            </a:r>
          </a:p>
          <a:p>
            <a:pPr>
              <a:spcAft>
                <a:spcPts val="1400"/>
              </a:spcAft>
              <a:defRPr sz="3200" b="1">
                <a:solidFill>
                  <a:srgbClr val="F8FAFC"/>
                </a:solidFill>
              </a:defRPr>
            </a:pPr>
            <a:r>
              <a:t>Digital Twin AI - Personal Life Simulation &amp; Decision Assistant</a:t>
            </a:r>
          </a:p>
          <a:p>
            <a:pPr>
              <a:spcAft>
                <a:spcPts val="3000"/>
              </a:spcAft>
              <a:defRPr sz="1800">
                <a:solidFill>
                  <a:srgbClr val="94A3B8"/>
                </a:solidFill>
              </a:defRPr>
            </a:pPr>
            <a:r>
              <a:t>AI Core Layer Integration • Predictive ML Engine • Dynamic Multi-Domain Assistants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Submitted to: Academic &amp; Project Mentor   |   Team 1   |   Milestone 2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&amp; Milestone 2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Project Vision: Simulate • Optimize • Evolve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Digital Twin Concept: </a:t>
            </a:r>
            <a:r>
              <a:rPr sz="1300">
                <a:solidFill>
                  <a:srgbClr val="F8FAFC"/>
                </a:solidFill>
              </a:rPr>
              <a:t>Constructs a data-driven personal digital twin modeling user habits, health metrics, financial streams, and study performance.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Simulate &amp; Predict: </a:t>
            </a:r>
            <a:r>
              <a:rPr sz="1300">
                <a:solidFill>
                  <a:srgbClr val="F8FAFC"/>
                </a:solidFill>
              </a:rPr>
              <a:t>Uses Machine Learning algorithms to simulate future outcomes (weight trajectories, savings growth, exam marks, health risks).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Actionable Guidance: </a:t>
            </a:r>
            <a:r>
              <a:rPr sz="1300">
                <a:solidFill>
                  <a:srgbClr val="F8FAFC"/>
                </a:solidFill>
              </a:rPr>
              <a:t>Delivers personalized, actionable recommendations for diet, workout routines, budgets, and study schedules.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Unified Decision Support: </a:t>
            </a:r>
            <a:r>
              <a:rPr sz="1300">
                <a:solidFill>
                  <a:srgbClr val="F8FAFC"/>
                </a:solidFill>
              </a:rPr>
              <a:t>Acts as an intelligent decision copilot replacing fragmented individual tracking apps.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Milestone 2 Key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AI Core Layer Integration: </a:t>
            </a:r>
            <a:r>
              <a:rPr sz="1300">
                <a:solidFill>
                  <a:srgbClr val="F8FAFC"/>
                </a:solidFill>
              </a:rPr>
              <a:t>Implemented Machine Learning pipelines using Scikit-Learn, Joblib, and PyTorch for multi-domain prediction.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Real Dataset Retraining: </a:t>
            </a:r>
            <a:r>
              <a:rPr sz="1300">
                <a:solidFill>
                  <a:srgbClr val="F8FAFC"/>
                </a:solidFill>
              </a:rPr>
              <a:t>Trained core risk &amp; performance models on real public datasets (CDC BRFSS 70k+ rows, UCI Obesity, ENSANUT, HF Calorie).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4 Integrated AI Assistants: </a:t>
            </a:r>
            <a:r>
              <a:rPr sz="1300">
                <a:solidFill>
                  <a:srgbClr val="F8FAFC"/>
                </a:solidFill>
              </a:rPr>
              <a:t>Delivered Health, Financial, Productivity, and Fitness AI Assistants with interactive Streamlit UI.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Model Registry &amp; Audit: </a:t>
            </a:r>
            <a:r>
              <a:rPr sz="1300">
                <a:solidFill>
                  <a:srgbClr val="F8FAFC"/>
                </a:solidFill>
              </a:rPr>
              <a:t>Built automated model versioning, record metrics tracking (AUC, R², MAE), and evaluation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7243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906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1. Presentation Tier (UI/UX)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0667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Framework: Streamlit Web UI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Responsive Cards &amp; Interactive Tabs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Plotly &amp; Matplotlib Data Visualizations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JWT User Authentication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6830" y="1463040"/>
            <a:ext cx="527243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9710" y="1600200"/>
            <a:ext cx="4906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2. Application &amp; API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9710" y="2057400"/>
            <a:ext cx="490667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Framework: FastAPI / Python 3.14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RESTful Endpoint Architecture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JWT Token Session &amp; State Management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Modular Service Controller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7243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906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3. AI Core &amp; Machine Learning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90667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Frameworks: Scikit-learn, PyTorch, Joblib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Mifflin-St Jeor &amp; BMR Equation Engines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RandomForest, XGBoost, Regression Models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Model Registry (`ai_models/&lt;domain&gt;`)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6830" y="3931920"/>
            <a:ext cx="527243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710" y="4069080"/>
            <a:ext cx="4906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4. Data &amp; Dataset Pipeline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9710" y="4526280"/>
            <a:ext cx="490667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Database: SQLite / SQLAlchemy ORM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Public Datasets: CDC BRFSS, UCI, HF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Cached Transformation (`data/real/`)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✔  Synthetic Data Fallback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User Authentication &amp; Interactive Main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Dashboard Key Features &amp;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JWT Session Authentication: </a:t>
            </a:r>
            <a:r>
              <a:rPr sz="1300">
                <a:solidFill>
                  <a:srgbClr val="F8FAFC"/>
                </a:solidFill>
              </a:rPr>
              <a:t>Secure login/registration system managing user context, session expiration, and personalized profiles.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Executive KPI Widgets: </a:t>
            </a:r>
            <a:r>
              <a:rPr sz="1300">
                <a:solidFill>
                  <a:srgbClr val="F8FAFC"/>
                </a:solidFill>
              </a:rPr>
              <a:t>Displays key user indicators: Age (19), Overall Goal Score (13%), and Active Tracking Days (4).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Integrated Multi-Module Cards: </a:t>
            </a:r>
            <a:r>
              <a:rPr sz="1300">
                <a:solidFill>
                  <a:srgbClr val="F8FAFC"/>
                </a:solidFill>
              </a:rPr>
              <a:t>Real-time summary widgets showing Savings Trends, Weekly Study Hours breakdown, and Habit Snapshots.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Behavioral Pattern Engine: </a:t>
            </a:r>
            <a:r>
              <a:rPr sz="1300">
                <a:solidFill>
                  <a:srgbClr val="F8FAFC"/>
                </a:solidFill>
              </a:rPr>
              <a:t>Tracks dining out, daily study time, and sleep schedules to detect behavioral shifts and recommend improvements.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417320"/>
            <a:ext cx="53035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(4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46304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Health Assistant: BMI Calculator &amp; Calorie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Health Analytics &amp; Caloric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BMI Assessment: </a:t>
            </a:r>
            <a:r>
              <a:rPr sz="1300">
                <a:solidFill>
                  <a:srgbClr val="F8FAFC"/>
                </a:solidFill>
              </a:rPr>
              <a:t>Calculates exact BMI (e.g. 24.2 - Healthy Range) from height &amp; weight inputs, delivering tailored nutrition &amp; activity suggestions.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Mifflin-St Jeor BMR Engine: </a:t>
            </a:r>
            <a:r>
              <a:rPr sz="1300">
                <a:solidFill>
                  <a:srgbClr val="F8FAFC"/>
                </a:solidFill>
              </a:rPr>
              <a:t>Computes Basal Metabolic Rate (1,672 kcal) based on biometric parameters.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Daily Maintenance Requirement: </a:t>
            </a:r>
            <a:r>
              <a:rPr sz="1300">
                <a:solidFill>
                  <a:srgbClr val="F8FAFC"/>
                </a:solidFill>
              </a:rPr>
              <a:t>Factors in physical activity levels to determine daily maintenance calories (2,592 kcal).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Machine Learning Predictor: </a:t>
            </a:r>
            <a:r>
              <a:rPr sz="1300">
                <a:solidFill>
                  <a:srgbClr val="F8FAFC"/>
                </a:solidFill>
              </a:rPr>
              <a:t>Trained on Hugging Face calorie dataset (15,000 records, MAE 1.72 kcal, R² 0.998) to estimate specific burn requirements (2,576 kcal).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41732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(4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463040"/>
            <a:ext cx="521208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02375" y="388620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(5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3931920"/>
            <a:ext cx="5212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Health Assistant: Weight Trajectory &amp; Health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Predictive Weight &amp; Disease Risk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Weight Trajectory Forecasting: </a:t>
            </a:r>
            <a:r>
              <a:rPr sz="1300">
                <a:solidFill>
                  <a:srgbClr val="F8FAFC"/>
                </a:solidFill>
              </a:rPr>
              <a:t>Scikit-Learn model projects 30-day weight trajectory (70.0 kg to 71.9 kg) based on caloric intake &amp; activity.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Obesity Risk Classifier: </a:t>
            </a:r>
            <a:r>
              <a:rPr sz="1300">
                <a:solidFill>
                  <a:srgbClr val="F8FAFC"/>
                </a:solidFill>
              </a:rPr>
              <a:t>Trained on UCI Obesity dataset (2,110 rows, AUC 1.00, Acc 0.998) -&gt; Evaluates user risk (0% Low Risk).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Diabetes Risk Predictor: </a:t>
            </a:r>
            <a:r>
              <a:rPr sz="1300">
                <a:solidFill>
                  <a:srgbClr val="F8FAFC"/>
                </a:solidFill>
              </a:rPr>
              <a:t>Trained on CDC BRFSS dataset (70,692 rows, AUC 0.760) -&gt; Predicts diabetic risk (5% Low Risk).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Hypertension Risk Classifier: </a:t>
            </a:r>
            <a:r>
              <a:rPr sz="1300">
                <a:solidFill>
                  <a:srgbClr val="F8FAFC"/>
                </a:solidFill>
              </a:rPr>
              <a:t>Trained on ENSANUT dataset (3,352 rows, AUC 0.913, Acc 0.927) -&gt; Identifies risk factors (49% Moderate Risk) with preventative tips.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41732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(5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463040"/>
            <a:ext cx="521208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02375" y="388620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(5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3931920"/>
            <a:ext cx="5212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Financial Assistant: Savings &amp; Expense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Financial Analytics &amp; Savings Projections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6366F1"/>
                </a:solidFill>
              </a:rPr>
              <a:t>• Financial Transaction Logging: </a:t>
            </a:r>
            <a:r>
              <a:rPr sz="1300">
                <a:solidFill>
                  <a:srgbClr val="F8FAFC"/>
                </a:solidFill>
              </a:rPr>
              <a:t>Supports record creation across categories (Salary, Housing, Food, Transport, Investment, Savings).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6366F1"/>
                </a:solidFill>
              </a:rPr>
              <a:t>• Automated Expense Classifier: </a:t>
            </a:r>
            <a:r>
              <a:rPr sz="1300">
                <a:solidFill>
                  <a:srgbClr val="F8FAFC"/>
                </a:solidFill>
              </a:rPr>
              <a:t>ML model (`expense_classifier`) automatically categorizes plain-text descriptions into expense buckets.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6366F1"/>
                </a:solidFill>
              </a:rPr>
              <a:t>• Savings Projection Engine: </a:t>
            </a:r>
            <a:r>
              <a:rPr sz="1300">
                <a:solidFill>
                  <a:srgbClr val="F8FAFC"/>
                </a:solidFill>
              </a:rPr>
              <a:t>Forecasts cumulative savings growth over configurable horizons (12-month projection reaching ₹52,000 at ₹4,000/mo rate).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6366F1"/>
                </a:solidFill>
              </a:rPr>
              <a:t>• Actual vs Projected Analytics: </a:t>
            </a:r>
            <a:r>
              <a:rPr sz="1300">
                <a:solidFill>
                  <a:srgbClr val="F8FAFC"/>
                </a:solidFill>
              </a:rPr>
              <a:t>Compares logged actual savings against target trajectories for financial discipline.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41732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(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463040"/>
            <a:ext cx="521208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02375" y="388620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(5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3931920"/>
            <a:ext cx="5212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Financial Assistant: Spending Analysis &amp; Budgeting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Spending Breakdown &amp; Budget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Categorical Spending Breakdown: </a:t>
            </a:r>
            <a:r>
              <a:rPr sz="1300">
                <a:solidFill>
                  <a:srgbClr val="F8FAFC"/>
                </a:solidFill>
              </a:rPr>
              <a:t>Interactive pie chart visualizes expense shares (Total Spent ₹32,000; Top category Housing ₹18,500 / 57.8%).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Algorithmic Budget Recommendations: </a:t>
            </a:r>
            <a:r>
              <a:rPr sz="1300">
                <a:solidFill>
                  <a:srgbClr val="F8FAFC"/>
                </a:solidFill>
              </a:rPr>
              <a:t>Generates optimal budget limits: Monthly (₹32,000), Weekly (₹7,442), Emergency Fund Target (₹192,000), Savings Goal (₹6,000).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Granular Limit Allocation: </a:t>
            </a:r>
            <a:r>
              <a:rPr sz="1300">
                <a:solidFill>
                  <a:srgbClr val="F8FAFC"/>
                </a:solidFill>
              </a:rPr>
              <a:t>Establishes category-specific spending caps for Food (8k), Bills (9.6k), Shopping, and Healthcare.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Balance Forecast Engine: </a:t>
            </a:r>
            <a:r>
              <a:rPr sz="1300">
                <a:solidFill>
                  <a:srgbClr val="F8FAFC"/>
                </a:solidFill>
              </a:rPr>
              <a:t>Projects account balance trend over 90 days reaching ₹16,000.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41732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(5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463040"/>
            <a:ext cx="521208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02375" y="388620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(5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3931920"/>
            <a:ext cx="5212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Study Assistant: Productivity &amp; Marks Predictor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Productivity Tracking &amp; Performance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Weekly Study Logger: </a:t>
            </a:r>
            <a:r>
              <a:rPr sz="1300">
                <a:solidFill>
                  <a:srgbClr val="F8FAFC"/>
                </a:solidFill>
              </a:rPr>
              <a:t>Tracks study hours per subject (Maths, C, English, Biology, CS) with completion rate (89%) and average score (88).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Grade &amp; GPA Prediction Model: </a:t>
            </a:r>
            <a:r>
              <a:rPr sz="1300">
                <a:solidFill>
                  <a:srgbClr val="F8FAFC"/>
                </a:solidFill>
              </a:rPr>
              <a:t>Trained on UCI Student Performance dataset (1,044 records, R² 0.810, MAE 4.96).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Predictive Inputs: </a:t>
            </a:r>
            <a:r>
              <a:rPr sz="1300">
                <a:solidFill>
                  <a:srgbClr val="F8FAFC"/>
                </a:solidFill>
              </a:rPr>
              <a:t>Evaluates study hours, days remaining to exam, consistency score, and prior average score.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Performance Band Output: </a:t>
            </a:r>
            <a:r>
              <a:rPr sz="1300">
                <a:solidFill>
                  <a:srgbClr val="F8FAFC"/>
                </a:solidFill>
              </a:rPr>
              <a:t>Predicts expected marks (71.2/100), GPA (3.00), and performance tier ('Good') with curve visualization.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41732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(6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463040"/>
            <a:ext cx="521208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02375" y="388620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(6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3931920"/>
            <a:ext cx="5212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Study Assistant: Weak Subject Detection &amp; Planner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Weakness Detection &amp; Timetable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Weak Subject Risk Score Ranking: </a:t>
            </a:r>
            <a:r>
              <a:rPr sz="1300">
                <a:solidFill>
                  <a:srgbClr val="F8FAFC"/>
                </a:solidFill>
              </a:rPr>
              <a:t>Ranks academic subjects by risk score (e.g. C Programming flagged as highest weakness with Risk Score 0.25, Avg 75/100).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Automated Timetable Generator: </a:t>
            </a:r>
            <a:r>
              <a:rPr sz="1300">
                <a:solidFill>
                  <a:srgbClr val="F8FAFC"/>
                </a:solidFill>
              </a:rPr>
              <a:t>Generates daily revision schedules balancing target hours (4.0 hrs/day) with upcoming exam dates.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Time Optimisation Engine: </a:t>
            </a:r>
            <a:r>
              <a:rPr sz="1300">
                <a:solidFill>
                  <a:srgbClr val="F8FAFC"/>
                </a:solidFill>
              </a:rPr>
              <a:t>Allocates weekly study hours proportionally to subject weakness rankings.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• Long-Term Performance Trend: </a:t>
            </a:r>
            <a:r>
              <a:rPr sz="1300">
                <a:solidFill>
                  <a:srgbClr val="F8FAFC"/>
                </a:solidFill>
              </a:rPr>
              <a:t>Projects 180-day academic score (100) and GPA trajectory (4.0).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41732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(6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463040"/>
            <a:ext cx="521208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02375" y="388620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(6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3931920"/>
            <a:ext cx="5212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Fitness Assistant &amp; Habit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Fitness Scoring &amp; Goal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F97316"/>
                </a:solidFill>
              </a:rPr>
              <a:t>• Habit Consistency Tracking: </a:t>
            </a:r>
            <a:r>
              <a:rPr sz="1300">
                <a:solidFill>
                  <a:srgbClr val="F8FAFC"/>
                </a:solidFill>
              </a:rPr>
              <a:t>Logs habit completion rates (Sleep Schedule 99%, Exercise Frequency 80%, Meal Prep 70%).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97316"/>
                </a:solidFill>
              </a:rPr>
              <a:t>• Composite Fitness Score: </a:t>
            </a:r>
            <a:r>
              <a:rPr sz="1300">
                <a:solidFill>
                  <a:srgbClr val="F8FAFC"/>
                </a:solidFill>
              </a:rPr>
              <a:t>Evaluates daily metrics (7,000 steps, 30m exercise, 7h sleep, 2.2L water) producing a composite score (63/100 Intermediate).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97316"/>
                </a:solidFill>
              </a:rPr>
              <a:t>• Personalized Workout Generator: </a:t>
            </a:r>
            <a:r>
              <a:rPr sz="1300">
                <a:solidFill>
                  <a:srgbClr val="F8FAFC"/>
                </a:solidFill>
              </a:rPr>
              <a:t>Recommends exercise plans tailored to goals (Intermediate level, 40 min duration, ~350 kcal target, exercises: Jogging, Push-ups, Lunges, Plank hold).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97316"/>
                </a:solidFill>
              </a:rPr>
              <a:t>• Goal Achievement Classifier: </a:t>
            </a:r>
            <a:r>
              <a:rPr sz="1300">
                <a:solidFill>
                  <a:srgbClr val="F8FAFC"/>
                </a:solidFill>
              </a:rPr>
              <a:t>Predicts probability of reaching long-term fitness goals (100% High probability to reach score 80 in 90 days).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141732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(6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463040"/>
            <a:ext cx="521208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02375" y="3886200"/>
            <a:ext cx="53035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(7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3931920"/>
            <a:ext cx="5212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Machine Learning Models &amp; Real-World Dataset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126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Real Dataset Retraining &amp; Hold-Out Validation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103120"/>
          <a:ext cx="5760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Real Dataset Source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Sample Size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Hold-Out Metrics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risk_obesity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UCI Obesity (Palechor et al.)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2,110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AUC 1.00, Acc 0.998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risk_diabetes</a:t>
                      </a:r>
                    </a:p>
                  </a:txBody>
                  <a:tcPr>
                    <a:solidFill>
                      <a:srgbClr val="2835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CDC BRFSS 2015 Indicators</a:t>
                      </a:r>
                    </a:p>
                  </a:txBody>
                  <a:tcPr>
                    <a:solidFill>
                      <a:srgbClr val="2835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70,692</a:t>
                      </a:r>
                    </a:p>
                  </a:txBody>
                  <a:tcPr>
                    <a:solidFill>
                      <a:srgbClr val="2835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AUC 0.760, F1 0.705</a:t>
                      </a:r>
                    </a:p>
                  </a:txBody>
                  <a:tcPr>
                    <a:solidFill>
                      <a:srgbClr val="28354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risk_hypertension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ENSANUT 2021 Survey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3,352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AUC 0.913, Acc 0.927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performance_pred</a:t>
                      </a:r>
                    </a:p>
                  </a:txBody>
                  <a:tcPr>
                    <a:solidFill>
                      <a:srgbClr val="2835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UCI Student Performance</a:t>
                      </a:r>
                    </a:p>
                  </a:txBody>
                  <a:tcPr>
                    <a:solidFill>
                      <a:srgbClr val="2835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1,044</a:t>
                      </a:r>
                    </a:p>
                  </a:txBody>
                  <a:tcPr>
                    <a:solidFill>
                      <a:srgbClr val="2835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R² 0.810, MAE 4.96</a:t>
                      </a:r>
                    </a:p>
                  </a:txBody>
                  <a:tcPr>
                    <a:solidFill>
                      <a:srgbClr val="28354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workout_calorie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Hugging Face Calorie Dataset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R² 0.998, MAE 1.72 kcal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086600" y="1417320"/>
            <a:ext cx="43891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(5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42976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Innovations &amp; Engineering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7243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906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Hybrid Training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0667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Retrained major models on downloaded public datasets (70k+ records).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Maintains synthetic fallback generators (`ai_models/&lt;domain&gt;/synthetic.py`) for schema fields missing in public surveys.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Ensures system reliability even when external datasets have missing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6830" y="1463040"/>
            <a:ext cx="527243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9710" y="1600200"/>
            <a:ext cx="4906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Modular Domain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9710" y="2057400"/>
            <a:ext cx="490667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Decoupled ML models into dedicated domains: health, fitness, finance, study.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Joblib serialization for fast inference loading during web UI sessions.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Independent evaluation scripts &amp; automated pytest test suites.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7243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906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Explainable AI &amp;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90667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Converts raw probabilistic ML outputs into actionable clinical &amp; financial tips.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Integrates Mifflin-St Jeor biometric equations with ML calorie predictors.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Provides clear disclaimer bounds (health estimates vs medical advice).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6830" y="3931920"/>
            <a:ext cx="527243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710" y="4069080"/>
            <a:ext cx="4906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Interactive State &amp; Session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9710" y="4526280"/>
            <a:ext cx="490667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Full JWT token validation ensuring secure multi-tenant data isolation.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Reactive Streamlit state synchronization across forms, charts, and tables.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Automated data caching under `data/real/` for fast retraining runs.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MILESTONE 2: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Milestone 3 Technical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Milestone 2 Outcomes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AI Core Fully Functioning: </a:t>
            </a:r>
            <a:r>
              <a:rPr sz="1300">
                <a:solidFill>
                  <a:srgbClr val="F8FAFC"/>
                </a:solidFill>
              </a:rPr>
              <a:t>Successfully implemented and validated ML models for Health, Finance, Productivity, and Fitness.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Real Data Integration: </a:t>
            </a:r>
            <a:r>
              <a:rPr sz="1300">
                <a:solidFill>
                  <a:srgbClr val="F8FAFC"/>
                </a:solidFill>
              </a:rPr>
              <a:t>Trained models on real-world datasets achieving up to 1.00 AUC and 0.998 accuracy.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Polished User Interface: </a:t>
            </a:r>
            <a:r>
              <a:rPr sz="1300">
                <a:solidFill>
                  <a:srgbClr val="F8FAFC"/>
                </a:solidFill>
              </a:rPr>
              <a:t>Delivered an interactive web application with dashboards, forecasting charts, and log management.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Reproducible Pipeline: </a:t>
            </a:r>
            <a:r>
              <a:rPr sz="1300">
                <a:solidFill>
                  <a:srgbClr val="F8FAFC"/>
                </a:solidFill>
              </a:rPr>
              <a:t>Automated model retraining script (`ml/train_real.py`) and pytest suite.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Milestone 3 Planned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➔ Real-World User Pilot: </a:t>
            </a:r>
            <a:r>
              <a:rPr sz="1300">
                <a:solidFill>
                  <a:srgbClr val="F8FAFC"/>
                </a:solidFill>
              </a:rPr>
              <a:t>Collect consented real-user feedback to replace synthetic fallback models with empirical data.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➔ Advanced Deep Learning: </a:t>
            </a:r>
            <a:r>
              <a:rPr sz="1300">
                <a:solidFill>
                  <a:srgbClr val="F8FAFC"/>
                </a:solidFill>
              </a:rPr>
              <a:t>Explore Neural Network architectures (PyTorch) for multi-variate time-series forecasting.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➔ Cloud Deployment: </a:t>
            </a:r>
            <a:r>
              <a:rPr sz="1300">
                <a:solidFill>
                  <a:srgbClr val="F8FAFC"/>
                </a:solidFill>
              </a:rPr>
              <a:t>Deploy FastAPI backend &amp; Streamlit web portal to cloud infrastructure (Hugging Face Spaces / AWS).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EA5E9"/>
                </a:solidFill>
              </a:rPr>
              <a:t>➔ Privacy &amp; Security Audit: </a:t>
            </a:r>
            <a:r>
              <a:rPr sz="1300">
                <a:solidFill>
                  <a:srgbClr val="F8FAFC"/>
                </a:solidFill>
              </a:rPr>
              <a:t>Enforce strict HIPAA-compliant data encryption and differential privacy mechanisms.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